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EF2282-A50A-4822-877E-16DCA7B64DEF}">
  <a:tblStyle styleId="{99EF2282-A50A-4822-877E-16DCA7B64D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6400800" y="342900"/>
            <a:ext cx="2560320" cy="2560320"/>
          </a:xfrm>
          <a:prstGeom prst="ellipse">
            <a:avLst/>
          </a:prstGeom>
          <a:solidFill>
            <a:srgbClr val="0EA5B5">
              <a:alpha val="20000"/>
            </a:srgbClr>
          </a:solidFill>
          <a:ln cap="flat" cmpd="sng" w="12700">
            <a:solidFill>
              <a:srgbClr val="0EA5B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858000" y="822960"/>
            <a:ext cx="1645920" cy="1645920"/>
          </a:xfrm>
          <a:prstGeom prst="ellipse">
            <a:avLst/>
          </a:prstGeom>
          <a:solidFill>
            <a:srgbClr val="2DD4BF">
              <a:alpha val="30196"/>
            </a:srgbClr>
          </a:solidFill>
          <a:ln cap="flat" cmpd="sng" w="12700">
            <a:solidFill>
              <a:srgbClr val="2DD4B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8020" y="1037616"/>
            <a:ext cx="1271243" cy="1271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189738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11480" y="73152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AccessScan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828800"/>
            <a:ext cx="5760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Automated Accessibility Compliance Detection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Using Synthetic Images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4251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Motivating Use Case  ·  Project Proposal  ·  Deep Learning Course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 — Motivating Use Case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20040" y="1143000"/>
            <a:ext cx="393192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F0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1097280" y="13258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18745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8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1 in 5 people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in Israel lives with a disability</a:t>
            </a:r>
            <a:b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Accessibility laws exist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— but enforcement is manual, slow, and expensive</a:t>
            </a:r>
            <a:b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Inspectors visit each site individually — thousands of buildings, minimal staff</a:t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existing dataset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892040" y="1143000"/>
            <a:ext cx="3931920" cy="34747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5669280" y="13258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Project Definition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74920" y="18745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vision on the entrance of building or a store</a:t>
            </a:r>
            <a:b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3 statements about the picture</a:t>
            </a:r>
            <a:b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bility to identify inaccessible entrances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2 — Project Task Description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274320" y="1143000"/>
            <a:ext cx="2560320" cy="347472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325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74320" y="2011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INPUT GENERATION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20040" y="2423160"/>
            <a:ext cx="24690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 top-down security camera image of a building entrance  &amp; sidewalk area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Photographing the street from a municipal vehicle from several angles &amp; variations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Labeling accessibility features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2971800" y="23774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840480" y="1143000"/>
            <a:ext cx="2103120" cy="347472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EA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325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3840480" y="20116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MODEL GOALS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886200" y="2423160"/>
            <a:ext cx="2011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Multi-label Classification Categories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Building Entrance</a:t>
            </a:r>
            <a:endParaRPr sz="11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 sz="11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Sidewalk and Access</a:t>
            </a:r>
            <a:endParaRPr sz="11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Segmentation- Detection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(YOLOv8-seg / Mask R-CNN)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89320" y="23774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858000" y="1143000"/>
            <a:ext cx="2011680" cy="347472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1325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685800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903720" y="2423160"/>
            <a:ext cx="1920240" cy="2116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Checklist Classification Vector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Inaccessible segmentation: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Parking spot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🟠 Ramp/step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Obstacle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+ Compliance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Score 0-100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Novelty: Synthetic data with free auto-generated segmentation masks — no manual labeling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3 — Models &amp; Methods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20040" y="1097280"/>
            <a:ext cx="397764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F0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20040" y="1097280"/>
            <a:ext cx="109728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1005840" y="120700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1: Generate Synthetic Images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005840" y="1627632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Stable Diffusion / ControlNet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Top-down CCTV viewpoint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Varied lighting, weather, times of day, view angle, obstacles</a:t>
            </a:r>
            <a:endParaRPr sz="1100">
              <a:solidFill>
                <a:srgbClr val="4455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F0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709160" y="1097280"/>
            <a:ext cx="109728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5394960" y="120700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2: Auto-Label Masks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394960" y="1627632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Label will include short description of the image + Binary vector of 5-10 classifiers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Masks generated at render 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Classifiers divide into 4 classes: ramp, parking, Entrance, obstacle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55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20040" y="2971800"/>
            <a:ext cx="397764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F0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20040" y="2971800"/>
            <a:ext cx="109728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" y="3108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1005840" y="308152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3: Train Segmentation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005840" y="3502152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YOLOv8-seg (fast) or Mask R-CNN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Pre-trained backbone (COCO)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Fine-tune on synthetic dataset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709160" y="2971800"/>
            <a:ext cx="397764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F0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709160" y="2971800"/>
            <a:ext cx="109728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0328" y="3108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5394960" y="308152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4: Evaluate &amp; Iterate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394960" y="3502152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Test on small set of real photos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(Google Earth for example)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Identify domain gap, apply aug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Compliance score = weighted F1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4 — Data Specification &amp; Generation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Why synthetic images are essential: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 CCTV footage is private &amp; legally inaccessible  ·  Manual mask annotation would cost thousands of hours  · 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 gives us masks for free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" name="Google Shape;94;p7"/>
          <p:cNvGraphicFramePr/>
          <p:nvPr/>
        </p:nvGraphicFramePr>
        <p:xfrm>
          <a:off x="32004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{99EF2282-A50A-4822-877E-16DCA7B64DEF}</a:tableStyleId>
              </a:tblPr>
              <a:tblGrid>
                <a:gridCol w="4251950"/>
                <a:gridCol w="42519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Detail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8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D4B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D4BF"/>
                          </a:solidFill>
                        </a:rPr>
                        <a:t>Volume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~1,000 synthetic images (training) + 100 real photos (eval)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D4B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D4BF"/>
                          </a:solidFill>
                        </a:rPr>
                        <a:t>Label format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Instance segmentation masks (PNG) + JSON compliance checklist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D4B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D4BF"/>
                          </a:solidFill>
                        </a:rPr>
                        <a:t>Generation tool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Stable Diffusion XL + ControlNet depth/pose conditioning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D4B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D4BF"/>
                          </a:solidFill>
                        </a:rPr>
                        <a:t>Real data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Hand-collected sidewalk photos for domain-gap evaluation only</a:t>
                      </a:r>
                      <a:endParaRPr sz="12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Google Earth does not solve the problem of labels. We could perhaps use them as a test if it’s </a:t>
                      </a: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legal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Our synthetic approach solves both problems — there is no need for access to private images, and the </a:t>
                      </a: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labels</a:t>
                      </a: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 are also created automatically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A3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2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 — Metrics &amp; KPIs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320040" y="1097280"/>
            <a:ext cx="3977640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02920" y="126187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331720" y="120700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&gt; 0.70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02920" y="20574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across 4 classes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709160" y="1097280"/>
            <a:ext cx="3977640" cy="1691640"/>
          </a:xfrm>
          <a:prstGeom prst="rect">
            <a:avLst/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892040" y="126187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IoU 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720840" y="120700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&gt; 0.65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892040" y="20574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Segmentation mask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overlap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20040" y="3017520"/>
            <a:ext cx="3977640" cy="16916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02920" y="318211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per class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2331720" y="31272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&gt; 0.72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2920" y="39776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Per-category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 &amp;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709160" y="3017520"/>
            <a:ext cx="3977640" cy="1691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892040" y="318211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720840" y="31272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0–100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892040" y="39776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audit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per site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Ground truth: manually verified real-world photos. Protocol: 5-fold cross-validation on synthetic set, final eval on real-world hold-out.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A7E8C">
              <a:alpha val="14901"/>
            </a:srgbClr>
          </a:solidFill>
          <a:ln cap="flat" cmpd="sng" w="12700">
            <a:solidFill>
              <a:srgbClr val="0A7E8C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45720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411480" y="6400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AccessScan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11480" y="15544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Automated Accessibility Compliance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Using Synthetic Security Camera Imagery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11480" y="2651760"/>
            <a:ext cx="3474720" cy="457200"/>
          </a:xfrm>
          <a:prstGeom prst="roundRect">
            <a:avLst>
              <a:gd fmla="val 24000" name="adj"/>
            </a:avLst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697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/>
          <p:nvPr/>
        </p:nvSpPr>
        <p:spPr>
          <a:xfrm>
            <a:off x="914400" y="267919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impact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11480" y="3246120"/>
            <a:ext cx="3474720" cy="457200"/>
          </a:xfrm>
          <a:prstGeom prst="roundRect">
            <a:avLst>
              <a:gd fmla="val 24000" name="adj"/>
            </a:avLst>
          </a:prstGeom>
          <a:solidFill>
            <a:srgbClr val="0A7E8C"/>
          </a:solidFill>
          <a:ln cap="flat" cmpd="sng" w="12700">
            <a:solidFill>
              <a:srgbClr val="0A7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291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/>
          <p:nvPr/>
        </p:nvSpPr>
        <p:spPr>
          <a:xfrm>
            <a:off x="914400" y="327355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Well-defined I/O + metrics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11480" y="3840480"/>
            <a:ext cx="3474720" cy="457200"/>
          </a:xfrm>
          <a:prstGeom prst="roundRect">
            <a:avLst>
              <a:gd fmla="val 24000" name="adj"/>
            </a:avLst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886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914400" y="38679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 data fully justified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11480" y="42976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